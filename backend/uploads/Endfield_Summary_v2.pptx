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8229600" cy="45720"/>
          </a:xfrm>
          <a:prstGeom prst="rect">
            <a:avLst/>
          </a:prstGeom>
          <a:solidFill>
            <a:srgbClr val="FF9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9300"/>
                </a:solidFill>
              </a:defRPr>
            </a:pPr>
            <a:r>
              <a:t>ARKNIGHTS: ENDFIELD</a:t>
            </a:r>
            <a:br/>
            <a:r>
              <a:t>TALOS II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Strategic Overview - The Frontier Reclaimed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0E9"/>
                </a:solidFill>
              </a:defRPr>
            </a:pPr>
            <a:r>
              <a:t>Prepared by: The Administrator 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8229600" cy="45720"/>
          </a:xfrm>
          <a:prstGeom prst="rect">
            <a:avLst/>
          </a:prstGeom>
          <a:solidFill>
            <a:srgbClr val="FF9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9300"/>
                </a:solidFill>
              </a:defRPr>
            </a:pPr>
            <a:r>
              <a:t>WORLDVIEW: TALOS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- 152 years since arrival from Terra.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Stargate is closed: TOTAL ISOLATION.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The 'Supernatural' (Erosion) plague.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Periodic Aggelos swarm incidents.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3200400" cy="4114800"/>
          </a:xfrm>
          <a:prstGeom prst="rect">
            <a:avLst/>
          </a:prstGeom>
          <a:solidFill>
            <a:srgbClr val="333333"/>
          </a:solidFill>
          <a:ln w="25400">
            <a:solidFill>
              <a:srgbClr val="00A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297180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A0E9"/>
                </a:solidFill>
              </a:defRPr>
            </a:pPr>
            <a:r>
              <a:t>[IMAGE]</a:t>
            </a:r>
            <a:br/>
            <a:r>
              <a:t>Landscape of Talos II</a:t>
            </a:r>
            <a:br/>
            <a:r>
              <a:t>(Rugged, alien mountains,</a:t>
            </a:r>
            <a:br/>
            <a:r>
              <a:t>industrial towers)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8229600" cy="45720"/>
          </a:xfrm>
          <a:prstGeom prst="rect">
            <a:avLst/>
          </a:prstGeom>
          <a:solidFill>
            <a:srgbClr val="FF9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9300"/>
                </a:solidFill>
              </a:defRPr>
            </a:pPr>
            <a:r>
              <a:t>THE ADMINISTRATOR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Legend of Endfield Industries.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Woke up Mem-Deficient after 10y sleep.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Master of Integrated Industrial Systems.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The key to humanity's survival.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3200400" cy="4114800"/>
          </a:xfrm>
          <a:prstGeom prst="rect">
            <a:avLst/>
          </a:prstGeom>
          <a:solidFill>
            <a:srgbClr val="333333"/>
          </a:solidFill>
          <a:ln w="25400">
            <a:solidFill>
              <a:srgbClr val="00A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297180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A0E9"/>
                </a:solidFill>
              </a:defRPr>
            </a:pPr>
            <a:r>
              <a:t>[IMAGE]</a:t>
            </a:r>
            <a:br/>
            <a:r>
              <a:t>The Administrator</a:t>
            </a:r>
            <a:br/>
            <a:r>
              <a:t>(Character Render)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8229600" cy="45720"/>
          </a:xfrm>
          <a:prstGeom prst="rect">
            <a:avLst/>
          </a:prstGeom>
          <a:solidFill>
            <a:srgbClr val="FF9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9300"/>
                </a:solidFill>
              </a:defRPr>
            </a:pPr>
            <a:r>
              <a:t>OPERATIONAL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Ch 1: 4th Gorge incident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Repelled 'Bonecrusher' cultists.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Sealed early-stage Erosion crack.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Ch 2: Wulung (Murung) Crisis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Restored Shik-yang production.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Stabilized regional food supply.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3200400" cy="4114800"/>
          </a:xfrm>
          <a:prstGeom prst="rect">
            <a:avLst/>
          </a:prstGeom>
          <a:solidFill>
            <a:srgbClr val="333333"/>
          </a:solidFill>
          <a:ln w="25400">
            <a:solidFill>
              <a:srgbClr val="00A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297180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A0E9"/>
                </a:solidFill>
              </a:defRPr>
            </a:pPr>
            <a:r>
              <a:t>[IMAGE]</a:t>
            </a:r>
            <a:br/>
            <a:r>
              <a:t>Endfield Base</a:t>
            </a:r>
            <a:br/>
            <a:r>
              <a:t>(Industrial construction)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8229600" cy="45720"/>
          </a:xfrm>
          <a:prstGeom prst="rect">
            <a:avLst/>
          </a:prstGeom>
          <a:solidFill>
            <a:srgbClr val="FF9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9300"/>
                </a:solidFill>
              </a:defRPr>
            </a:pPr>
            <a:r>
              <a:t>INTEGRATED INDUSTRIAL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Tactical Construction on-the-fly.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Mass Energy &amp; Resource Distribution.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Automated Supply Lines.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Combat-Ready Power Grid.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3200400" cy="4114800"/>
          </a:xfrm>
          <a:prstGeom prst="rect">
            <a:avLst/>
          </a:prstGeom>
          <a:solidFill>
            <a:srgbClr val="333333"/>
          </a:solidFill>
          <a:ln w="25400">
            <a:solidFill>
              <a:srgbClr val="00A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297180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A0E9"/>
                </a:solidFill>
              </a:defRPr>
            </a:pPr>
            <a:r>
              <a:t>[IMAGE]</a:t>
            </a:r>
            <a:br/>
            <a:r>
              <a:t>Factory Layout</a:t>
            </a:r>
            <a:br/>
            <a:r>
              <a:t>(Conveyor belts, machines)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8229600" cy="45720"/>
          </a:xfrm>
          <a:prstGeom prst="rect">
            <a:avLst/>
          </a:prstGeom>
          <a:solidFill>
            <a:srgbClr val="FF9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9300"/>
                </a:solidFill>
              </a:defRPr>
            </a:pPr>
            <a:r>
              <a:t>LEADERSHIP PERSONNEL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Perlica (Supervisor)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Tactical command &amp; personnel care.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Zhang-Bang-Yi (Overseer)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Master's loyal student &amp; administrator.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3200400" cy="4114800"/>
          </a:xfrm>
          <a:prstGeom prst="rect">
            <a:avLst/>
          </a:prstGeom>
          <a:solidFill>
            <a:srgbClr val="333333"/>
          </a:solidFill>
          <a:ln w="25400">
            <a:solidFill>
              <a:srgbClr val="00A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297180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A0E9"/>
                </a:solidFill>
              </a:defRPr>
            </a:pPr>
            <a:r>
              <a:t>[IMAGE]</a:t>
            </a:r>
            <a:br/>
            <a:r>
              <a:t>Perlica &amp; Zhang-Bang-Yi</a:t>
            </a:r>
            <a:br/>
            <a:r>
              <a:t>(Character Art)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8229600" cy="45720"/>
          </a:xfrm>
          <a:prstGeom prst="rect">
            <a:avLst/>
          </a:prstGeom>
          <a:solidFill>
            <a:srgbClr val="FF9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9300"/>
                </a:solidFill>
              </a:defRPr>
            </a:pPr>
            <a:r>
              <a:t>COMBAT 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Chen Qianyu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High-precision sword Arts.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Wulfgard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High-impact chainsaw assault.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Angelina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Gravity manipulation specialist.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3200400" cy="4114800"/>
          </a:xfrm>
          <a:prstGeom prst="rect">
            <a:avLst/>
          </a:prstGeom>
          <a:solidFill>
            <a:srgbClr val="333333"/>
          </a:solidFill>
          <a:ln w="25400">
            <a:solidFill>
              <a:srgbClr val="00A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297180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A0E9"/>
                </a:solidFill>
              </a:defRPr>
            </a:pPr>
            <a:r>
              <a:t>[IMAGE]</a:t>
            </a:r>
            <a:br/>
            <a:r>
              <a:t>Operator Team</a:t>
            </a:r>
            <a:br/>
            <a:r>
              <a:t>(Combat Stance)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8229600" cy="45720"/>
          </a:xfrm>
          <a:prstGeom prst="rect">
            <a:avLst/>
          </a:prstGeom>
          <a:solidFill>
            <a:srgbClr val="FF9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9300"/>
                </a:solidFill>
              </a:defRPr>
            </a:pPr>
            <a:r>
              <a:t>ENVIRONMENTAL THREATS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Aggelos: Non-biological lifeforms.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Erosion: Molecular-level decay.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The Father: Mysterious presence.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Anchors: Falling objects from sky.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3200400" cy="4114800"/>
          </a:xfrm>
          <a:prstGeom prst="rect">
            <a:avLst/>
          </a:prstGeom>
          <a:solidFill>
            <a:srgbClr val="333333"/>
          </a:solidFill>
          <a:ln w="25400">
            <a:solidFill>
              <a:srgbClr val="00A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297180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A0E9"/>
                </a:solidFill>
              </a:defRPr>
            </a:pPr>
            <a:r>
              <a:t>[IMAGE]</a:t>
            </a:r>
            <a:br/>
            <a:r>
              <a:t>Aggelos Swarm</a:t>
            </a:r>
            <a:br/>
            <a:r>
              <a:t>(Monster Art)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8229600" cy="45720"/>
          </a:xfrm>
          <a:prstGeom prst="rect">
            <a:avLst/>
          </a:prstGeom>
          <a:solidFill>
            <a:srgbClr val="FF9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9300"/>
                </a:solidFill>
              </a:defRPr>
            </a:pPr>
            <a:r>
              <a:t>CLASSIFIED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Origin of the Supernatural.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Coordinates of the Stargate Gate.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Administrator's 10-year gap.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Terran connection legacy.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3200400" cy="4114800"/>
          </a:xfrm>
          <a:prstGeom prst="rect">
            <a:avLst/>
          </a:prstGeom>
          <a:solidFill>
            <a:srgbClr val="333333"/>
          </a:solidFill>
          <a:ln w="25400">
            <a:solidFill>
              <a:srgbClr val="00A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297180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A0E9"/>
                </a:solidFill>
              </a:defRPr>
            </a:pPr>
            <a:r>
              <a:t>[IMAGE]</a:t>
            </a:r>
            <a:br/>
            <a:r>
              <a:t>Secret Documents</a:t>
            </a:r>
            <a:br/>
            <a:r>
              <a:t>(Stylized UI)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8229600" cy="45720"/>
          </a:xfrm>
          <a:prstGeom prst="rect">
            <a:avLst/>
          </a:prstGeom>
          <a:solidFill>
            <a:srgbClr val="FF9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9300"/>
                </a:solidFill>
              </a:defRPr>
            </a:pPr>
            <a:r>
              <a:t>THE FRONTIER AWAITS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Reclaim. Rebuild. Connect.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The future of Talos II is in our hands.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For Humanity, Beyond Terra.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3200400" cy="4114800"/>
          </a:xfrm>
          <a:prstGeom prst="rect">
            <a:avLst/>
          </a:prstGeom>
          <a:solidFill>
            <a:srgbClr val="333333"/>
          </a:solidFill>
          <a:ln w="25400">
            <a:solidFill>
              <a:srgbClr val="00A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297180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A0E9"/>
                </a:solidFill>
              </a:defRPr>
            </a:pPr>
            <a:r>
              <a:t>[IMAGE]</a:t>
            </a:r>
            <a:br/>
            <a:r>
              <a:t>Sunset over Endfield</a:t>
            </a:r>
            <a:br/>
            <a:r>
              <a:t>(Evocative art)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